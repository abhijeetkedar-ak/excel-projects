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53316382327209"/>
          <c:y val="6.4776173811606885E-2"/>
          <c:w val="0.84557113954505692"/>
          <c:h val="0.7596784776902887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Straight-Line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45000</c:v>
                </c:pt>
                <c:pt idx="1">
                  <c:v>45000</c:v>
                </c:pt>
                <c:pt idx="2">
                  <c:v>45000</c:v>
                </c:pt>
                <c:pt idx="3">
                  <c:v>45000</c:v>
                </c:pt>
                <c:pt idx="4">
                  <c:v>45000</c:v>
                </c:pt>
                <c:pt idx="5">
                  <c:v>45000</c:v>
                </c:pt>
                <c:pt idx="6">
                  <c:v>45000</c:v>
                </c:pt>
                <c:pt idx="7">
                  <c:v>45000</c:v>
                </c:pt>
                <c:pt idx="8">
                  <c:v>45000</c:v>
                </c:pt>
                <c:pt idx="9">
                  <c:v>45000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70-4875-A087-1AF01A2E4F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Diminishing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</c:strCache>
            </c:strRef>
          </c:cat>
          <c:val>
            <c:numRef>
              <c:f>Sheet1!$C$2:$C$11</c:f>
              <c:numCache>
                <c:formatCode>#,##0.00</c:formatCode>
                <c:ptCount val="10"/>
                <c:pt idx="0">
                  <c:v>92552.29</c:v>
                </c:pt>
                <c:pt idx="1">
                  <c:v>73516.899999999994</c:v>
                </c:pt>
                <c:pt idx="2">
                  <c:v>58396.55</c:v>
                </c:pt>
                <c:pt idx="3">
                  <c:v>46386.03</c:v>
                </c:pt>
                <c:pt idx="4">
                  <c:v>36845.730000000003</c:v>
                </c:pt>
                <c:pt idx="5">
                  <c:v>29267.61</c:v>
                </c:pt>
                <c:pt idx="6">
                  <c:v>23248.09</c:v>
                </c:pt>
                <c:pt idx="7">
                  <c:v>18466.61</c:v>
                </c:pt>
                <c:pt idx="8">
                  <c:v>14668.55</c:v>
                </c:pt>
                <c:pt idx="9">
                  <c:v>11651.64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70-4875-A087-1AF01A2E4F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013916229221351"/>
          <c:y val="2.830514241275396E-3"/>
          <c:w val="0.15208305993000876"/>
          <c:h val="0.14557353941868378"/>
        </c:manualLayout>
      </c:layout>
      <c:overlay val="1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u="sng" dirty="0"/>
              <a:t>Depreciation Methods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u="sng" dirty="0"/>
              <a:t>Straight-Line</a:t>
            </a:r>
            <a:r>
              <a:rPr dirty="0"/>
              <a:t> vs. </a:t>
            </a:r>
            <a:r>
              <a:rPr b="1" u="sng" dirty="0"/>
              <a:t>Diminishing Balance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000" dirty="0"/>
              <a:t>Depreciation is the reduction in value of an asset over time.</a:t>
            </a:r>
          </a:p>
          <a:p>
            <a:r>
              <a:rPr sz="3000" dirty="0"/>
              <a:t>This project analyzes two depreciation methods:</a:t>
            </a:r>
          </a:p>
          <a:p>
            <a:pPr marL="0" indent="0">
              <a:buNone/>
            </a:pPr>
            <a:r>
              <a:rPr lang="en-IN" sz="3000" b="1" dirty="0"/>
              <a:t>    1. </a:t>
            </a:r>
            <a:r>
              <a:rPr sz="3000" b="1" u="sng" dirty="0"/>
              <a:t>Straight</a:t>
            </a:r>
            <a:r>
              <a:rPr lang="en-IN" sz="3000" b="1" u="sng" dirty="0"/>
              <a:t> </a:t>
            </a:r>
            <a:r>
              <a:rPr sz="3000" b="1" u="sng" dirty="0"/>
              <a:t>Line Method</a:t>
            </a:r>
          </a:p>
          <a:p>
            <a:pPr marL="0" indent="0">
              <a:buNone/>
            </a:pPr>
            <a:r>
              <a:rPr lang="en-IN" sz="3000" b="1" dirty="0"/>
              <a:t>    2. </a:t>
            </a:r>
            <a:r>
              <a:rPr sz="3000" b="1" u="sng" dirty="0"/>
              <a:t>Diminishing Balance Method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Straight-Line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100" dirty="0"/>
              <a:t> Formula: (Asset Price - Scrap Value) / Life Span</a:t>
            </a:r>
          </a:p>
          <a:p>
            <a:r>
              <a:rPr lang="en-US" sz="3100" dirty="0"/>
              <a:t>Asset Price: $500,000</a:t>
            </a:r>
          </a:p>
          <a:p>
            <a:r>
              <a:rPr lang="en-US" sz="3100" dirty="0"/>
              <a:t>Depreciation/Year: $45,000</a:t>
            </a:r>
          </a:p>
          <a:p>
            <a:r>
              <a:rPr lang="en-US" sz="3100" dirty="0"/>
              <a:t>Depreciation %: 9%</a:t>
            </a:r>
          </a:p>
          <a:p>
            <a:r>
              <a:rPr lang="en-US" sz="3100" dirty="0"/>
              <a:t>Total Depreciation for it’s Life Span: $450,000</a:t>
            </a:r>
          </a:p>
          <a:p>
            <a:r>
              <a:rPr lang="en-US" sz="3100" dirty="0"/>
              <a:t>Depreciated Book Value After Its Life Span (Final Book Value): $50,000</a:t>
            </a:r>
          </a:p>
          <a:p>
            <a:pPr marL="0" indent="0">
              <a:buNone/>
            </a:pPr>
            <a:endParaRPr lang="en-IN" sz="3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Diminishing Balance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sz="3100" dirty="0"/>
              <a:t>Formula: Book Value * Depreciation Rate</a:t>
            </a:r>
          </a:p>
          <a:p>
            <a:r>
              <a:rPr sz="3100" dirty="0"/>
              <a:t>Depreciation Rate: 20</a:t>
            </a:r>
            <a:r>
              <a:rPr lang="en-IN" sz="3100" dirty="0"/>
              <a:t>.57</a:t>
            </a:r>
            <a:r>
              <a:rPr sz="3100" dirty="0"/>
              <a:t>%</a:t>
            </a:r>
          </a:p>
          <a:p>
            <a:r>
              <a:rPr sz="3100" dirty="0"/>
              <a:t>Total Depreciation: </a:t>
            </a:r>
            <a:r>
              <a:rPr lang="en-US" sz="3200" dirty="0"/>
              <a:t>$</a:t>
            </a:r>
            <a:r>
              <a:rPr lang="en-IN" sz="3200" dirty="0"/>
              <a:t>4,05,000.00</a:t>
            </a:r>
            <a:endParaRPr sz="3100" dirty="0"/>
          </a:p>
          <a:p>
            <a:r>
              <a:rPr sz="3100" dirty="0"/>
              <a:t>Final Book Value:</a:t>
            </a:r>
            <a:r>
              <a:rPr lang="en-IN" sz="3100" dirty="0"/>
              <a:t> </a:t>
            </a:r>
            <a:r>
              <a:rPr lang="en-US" sz="3200" dirty="0"/>
              <a:t>$</a:t>
            </a:r>
            <a:r>
              <a:rPr lang="en-IN" sz="3200" dirty="0"/>
              <a:t>45,000.00</a:t>
            </a:r>
          </a:p>
          <a:p>
            <a:endParaRPr sz="3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Comparison Table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CC7BF2-01DF-EBE2-4C08-9D2BF4615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595686"/>
              </p:ext>
            </p:extLst>
          </p:nvPr>
        </p:nvGraphicFramePr>
        <p:xfrm>
          <a:off x="589547" y="1754204"/>
          <a:ext cx="7934827" cy="1493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664995">
                  <a:extLst>
                    <a:ext uri="{9D8B030D-6E8A-4147-A177-3AD203B41FA5}">
                      <a16:colId xmlns:a16="http://schemas.microsoft.com/office/drawing/2014/main" val="587967961"/>
                    </a:ext>
                  </a:extLst>
                </a:gridCol>
                <a:gridCol w="2634916">
                  <a:extLst>
                    <a:ext uri="{9D8B030D-6E8A-4147-A177-3AD203B41FA5}">
                      <a16:colId xmlns:a16="http://schemas.microsoft.com/office/drawing/2014/main" val="3779525506"/>
                    </a:ext>
                  </a:extLst>
                </a:gridCol>
                <a:gridCol w="2634916">
                  <a:extLst>
                    <a:ext uri="{9D8B030D-6E8A-4147-A177-3AD203B41FA5}">
                      <a16:colId xmlns:a16="http://schemas.microsoft.com/office/drawing/2014/main" val="3398841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u="sng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u="sng" dirty="0">
                          <a:solidFill>
                            <a:schemeClr val="tx1"/>
                          </a:solidFill>
                        </a:rPr>
                        <a:t>Total Depreciation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u="sng" dirty="0">
                          <a:solidFill>
                            <a:schemeClr val="tx1"/>
                          </a:solidFill>
                        </a:rPr>
                        <a:t>Book Value (End)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241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Straight-Line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$450,000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$50,000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097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Diminishing Balance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</a:t>
                      </a:r>
                      <a:r>
                        <a:rPr lang="en-IN" sz="2000" dirty="0"/>
                        <a:t>4,05,000.00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</a:t>
                      </a:r>
                      <a:r>
                        <a:rPr lang="en-IN" sz="2000" dirty="0"/>
                        <a:t>45,000.00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0082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670"/>
            <a:ext cx="8229600" cy="1143000"/>
          </a:xfrm>
        </p:spPr>
        <p:txBody>
          <a:bodyPr/>
          <a:lstStyle/>
          <a:p>
            <a:r>
              <a:rPr b="1" u="sng" dirty="0"/>
              <a:t>Yearly Depreciation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185723"/>
              </p:ext>
            </p:extLst>
          </p:nvPr>
        </p:nvGraphicFramePr>
        <p:xfrm>
          <a:off x="914400" y="1888958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100" dirty="0"/>
              <a:t>Straight</a:t>
            </a:r>
            <a:r>
              <a:rPr lang="en-IN" sz="3100" dirty="0"/>
              <a:t> </a:t>
            </a:r>
            <a:r>
              <a:rPr sz="3100" dirty="0"/>
              <a:t>Line is ideal for assets with consistent use.</a:t>
            </a:r>
          </a:p>
          <a:p>
            <a:r>
              <a:rPr sz="3100" dirty="0"/>
              <a:t>Diminishing Balance better matches high initial usage.</a:t>
            </a:r>
          </a:p>
          <a:p>
            <a:r>
              <a:rPr sz="3100" dirty="0"/>
              <a:t>Both methods reach similar total depreciation.</a:t>
            </a:r>
          </a:p>
          <a:p>
            <a:r>
              <a:rPr sz="3100" dirty="0"/>
              <a:t>Choice depends on financial and tax strategy.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100" dirty="0"/>
              <a:t>Both methods have advantages.</a:t>
            </a:r>
          </a:p>
          <a:p>
            <a:r>
              <a:rPr sz="3100" dirty="0"/>
              <a:t>Straight-Line is simpler and consistent.</a:t>
            </a:r>
          </a:p>
          <a:p>
            <a:r>
              <a:rPr sz="3100" dirty="0"/>
              <a:t>Diminishing Balance reflects real usage better.</a:t>
            </a:r>
          </a:p>
          <a:p>
            <a:r>
              <a:rPr sz="3100" dirty="0"/>
              <a:t>Use based on asset type and company policy.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208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Depreciation Methods Analysis</vt:lpstr>
      <vt:lpstr>Introduction</vt:lpstr>
      <vt:lpstr>Straight-Line Method</vt:lpstr>
      <vt:lpstr>Diminishing Balance Method</vt:lpstr>
      <vt:lpstr>Comparison Table</vt:lpstr>
      <vt:lpstr>Yearly Depreciation Chart</vt:lpstr>
      <vt:lpstr>Insights &amp;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Abhijeet Kedar</cp:lastModifiedBy>
  <cp:revision>8</cp:revision>
  <dcterms:created xsi:type="dcterms:W3CDTF">2013-01-27T09:14:16Z</dcterms:created>
  <dcterms:modified xsi:type="dcterms:W3CDTF">2025-06-07T16:53:05Z</dcterms:modified>
  <cp:category/>
</cp:coreProperties>
</file>